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22B6AB-C1B3-4FEE-950D-3D80C6CC646C}"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862BB-B0E2-4428-9040-958677C0839D}" type="slidenum">
              <a:rPr lang="en-US" smtClean="0"/>
              <a:t>‹#›</a:t>
            </a:fld>
            <a:endParaRPr lang="en-US"/>
          </a:p>
        </p:txBody>
      </p:sp>
    </p:spTree>
    <p:extLst>
      <p:ext uri="{BB962C8B-B14F-4D97-AF65-F5344CB8AC3E}">
        <p14:creationId xmlns:p14="http://schemas.microsoft.com/office/powerpoint/2010/main" val="351191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8862BB-B0E2-4428-9040-958677C0839D}" type="slidenum">
              <a:rPr lang="en-US" smtClean="0"/>
              <a:t>1</a:t>
            </a:fld>
            <a:endParaRPr lang="en-US"/>
          </a:p>
        </p:txBody>
      </p:sp>
    </p:spTree>
    <p:extLst>
      <p:ext uri="{BB962C8B-B14F-4D97-AF65-F5344CB8AC3E}">
        <p14:creationId xmlns:p14="http://schemas.microsoft.com/office/powerpoint/2010/main" val="339123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0613-AB05-62F9-5C49-A8DFA74F6A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DD9960-AD29-D00E-A4A5-E75FE7A9A8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D9FDD7-84A4-7423-5A9D-1DFA53B58D2B}"/>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5" name="Footer Placeholder 4">
            <a:extLst>
              <a:ext uri="{FF2B5EF4-FFF2-40B4-BE49-F238E27FC236}">
                <a16:creationId xmlns:a16="http://schemas.microsoft.com/office/drawing/2014/main" id="{0DA88C34-450D-D5DA-FDDC-F1DD05F0BC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13E62-3DD4-C6B9-503E-8845E8314161}"/>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251953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9430-3B96-339F-FF4D-9568E68980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F27892-3D23-F2FF-6523-29B00DD05A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F9420-9AB5-E4F0-1603-D3DC5864DDEA}"/>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5" name="Footer Placeholder 4">
            <a:extLst>
              <a:ext uri="{FF2B5EF4-FFF2-40B4-BE49-F238E27FC236}">
                <a16:creationId xmlns:a16="http://schemas.microsoft.com/office/drawing/2014/main" id="{6B10F075-C742-E9A8-9348-E37A147FD4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96A3F-ED6D-F546-AE9D-EE6F7D07ED11}"/>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2891618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0CB94-F6D1-2785-9914-05CDDB9E9B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742890-C611-A8FD-6658-D9288422A7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E92528-EDF7-8836-FA47-08E4258BBD15}"/>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5" name="Footer Placeholder 4">
            <a:extLst>
              <a:ext uri="{FF2B5EF4-FFF2-40B4-BE49-F238E27FC236}">
                <a16:creationId xmlns:a16="http://schemas.microsoft.com/office/drawing/2014/main" id="{9AD2150C-7007-BA5B-6BB6-99D92E3BBC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54F5CB-1DEB-8053-3AF3-46BFD4D28206}"/>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3261969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29834-1528-CC29-7D22-F2D44E113A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0F1AD5-2CCC-E881-7D57-1CBC92AE9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0B9BC1-D128-0417-984A-5FBCC9C57E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9ED2CE-CC24-C41D-D7FD-394662BBE2F9}"/>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6" name="Footer Placeholder 5">
            <a:extLst>
              <a:ext uri="{FF2B5EF4-FFF2-40B4-BE49-F238E27FC236}">
                <a16:creationId xmlns:a16="http://schemas.microsoft.com/office/drawing/2014/main" id="{69CFCDFC-7A1F-FE3C-98B9-407A8CDB08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9D3664-88DF-B941-009F-EB01160FC9AD}"/>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739836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36C5F-388E-127E-93B4-91159B1E09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E2C82B-69B6-F3D1-C7C0-3847E93F6E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E84B21-BC78-5162-F592-D1799F6F07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C6A0FC-8007-D240-1CFA-74F9834BD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C1574A-56CC-E2AB-518B-F7187CBD55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7E0F25-30D2-D131-4D85-EACF904E152A}"/>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8" name="Footer Placeholder 7">
            <a:extLst>
              <a:ext uri="{FF2B5EF4-FFF2-40B4-BE49-F238E27FC236}">
                <a16:creationId xmlns:a16="http://schemas.microsoft.com/office/drawing/2014/main" id="{792F1CDD-9202-0DA4-3939-0DFBBF3515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5B227D-3A13-AFA4-2AD5-C0A313C1A1E9}"/>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236319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F32E-7C20-33D1-704F-FAA52FC666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9AF23B-06E3-C5BD-35FC-05CF64AB1C92}"/>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4" name="Footer Placeholder 3">
            <a:extLst>
              <a:ext uri="{FF2B5EF4-FFF2-40B4-BE49-F238E27FC236}">
                <a16:creationId xmlns:a16="http://schemas.microsoft.com/office/drawing/2014/main" id="{594C930F-DF5A-A094-585B-89DCED11F8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633689-9754-5276-93E2-157574E7DBB1}"/>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4165834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963D9F-08DB-EEEF-864F-6B5F122ED2D9}"/>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3" name="Footer Placeholder 2">
            <a:extLst>
              <a:ext uri="{FF2B5EF4-FFF2-40B4-BE49-F238E27FC236}">
                <a16:creationId xmlns:a16="http://schemas.microsoft.com/office/drawing/2014/main" id="{D3B2E1C4-ED1C-B5C7-C41F-8B1F3BDADB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C678F5-E7E3-B012-95C6-8D6F2C0CB8E1}"/>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2109316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EADB2-13FE-54DE-664A-8E93DC9871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E6B721-A20A-DD05-5355-A76FDA547A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983178-0983-7039-F241-9313CB5441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81578-6637-5FCB-D908-73675B6872E5}"/>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6" name="Footer Placeholder 5">
            <a:extLst>
              <a:ext uri="{FF2B5EF4-FFF2-40B4-BE49-F238E27FC236}">
                <a16:creationId xmlns:a16="http://schemas.microsoft.com/office/drawing/2014/main" id="{A01CF721-DA98-258F-2066-91CD007C8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58A446-B274-90C8-E26F-F451A83257E9}"/>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760330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42480-6B91-6464-3D03-7A7C46EA70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CF4608-F3CE-DD45-D8D5-44D1C1B378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18C97E-D457-5FF3-5CB0-37EDAC754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63B2FA-F00C-F835-AC8A-936F8A1C79A1}"/>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6" name="Footer Placeholder 5">
            <a:extLst>
              <a:ext uri="{FF2B5EF4-FFF2-40B4-BE49-F238E27FC236}">
                <a16:creationId xmlns:a16="http://schemas.microsoft.com/office/drawing/2014/main" id="{F1CF97A9-D5F7-FFEE-3D5D-9CF65A0C75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5F0B24-6F3E-AA03-66E8-07C9833574A5}"/>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41067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043E-68EC-846B-5FDB-DE1569D011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183FAC-ED2D-A17E-6583-40201C705B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49C62A-C11E-E225-13FE-179A1EDE4371}"/>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5" name="Footer Placeholder 4">
            <a:extLst>
              <a:ext uri="{FF2B5EF4-FFF2-40B4-BE49-F238E27FC236}">
                <a16:creationId xmlns:a16="http://schemas.microsoft.com/office/drawing/2014/main" id="{5490A31D-3ECB-FE50-66CB-B97B6B5532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BED8C-B963-52C0-9069-3940B51494B4}"/>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1112440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16BB70-41DF-F744-4770-F6E57ACE5A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FCDE17-4897-8238-044D-0A28995732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88D21E-52B3-ED4C-F837-F9FC18B88CB1}"/>
              </a:ext>
            </a:extLst>
          </p:cNvPr>
          <p:cNvSpPr>
            <a:spLocks noGrp="1"/>
          </p:cNvSpPr>
          <p:nvPr>
            <p:ph type="dt" sz="half" idx="10"/>
          </p:nvPr>
        </p:nvSpPr>
        <p:spPr/>
        <p:txBody>
          <a:bodyPr/>
          <a:lstStyle/>
          <a:p>
            <a:fld id="{015181E1-CD1B-4428-B9CD-8C88ECA46944}" type="datetimeFigureOut">
              <a:rPr lang="en-US" smtClean="0"/>
              <a:t>11/30/2025</a:t>
            </a:fld>
            <a:endParaRPr lang="en-US"/>
          </a:p>
        </p:txBody>
      </p:sp>
      <p:sp>
        <p:nvSpPr>
          <p:cNvPr id="5" name="Footer Placeholder 4">
            <a:extLst>
              <a:ext uri="{FF2B5EF4-FFF2-40B4-BE49-F238E27FC236}">
                <a16:creationId xmlns:a16="http://schemas.microsoft.com/office/drawing/2014/main" id="{F17AA184-D7D5-2458-953E-1CD307F574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620B4-992D-8145-CA63-C72BB89F9992}"/>
              </a:ext>
            </a:extLst>
          </p:cNvPr>
          <p:cNvSpPr>
            <a:spLocks noGrp="1"/>
          </p:cNvSpPr>
          <p:nvPr>
            <p:ph type="sldNum" sz="quarter" idx="12"/>
          </p:nvPr>
        </p:nvSpPr>
        <p:spPr/>
        <p:txBody>
          <a:bodyPr/>
          <a:lstStyle/>
          <a:p>
            <a:fld id="{1EB390AF-52B7-4B16-AFA5-4964AB85F8DB}" type="slidenum">
              <a:rPr lang="en-US" smtClean="0"/>
              <a:t>‹#›</a:t>
            </a:fld>
            <a:endParaRPr lang="en-US"/>
          </a:p>
        </p:txBody>
      </p:sp>
    </p:spTree>
    <p:extLst>
      <p:ext uri="{BB962C8B-B14F-4D97-AF65-F5344CB8AC3E}">
        <p14:creationId xmlns:p14="http://schemas.microsoft.com/office/powerpoint/2010/main" val="1996018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6D1695-3DBA-2A2D-6AE1-36C5FC99EF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35E1FA-77AF-874A-9A24-0CBBF168B0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305E6E-FD63-9D1B-A41F-8F4D079A0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5181E1-CD1B-4428-B9CD-8C88ECA46944}" type="datetimeFigureOut">
              <a:rPr lang="en-US" smtClean="0"/>
              <a:t>11/30/2025</a:t>
            </a:fld>
            <a:endParaRPr lang="en-US"/>
          </a:p>
        </p:txBody>
      </p:sp>
      <p:sp>
        <p:nvSpPr>
          <p:cNvPr id="5" name="Footer Placeholder 4">
            <a:extLst>
              <a:ext uri="{FF2B5EF4-FFF2-40B4-BE49-F238E27FC236}">
                <a16:creationId xmlns:a16="http://schemas.microsoft.com/office/drawing/2014/main" id="{8CA8F7E0-F108-0C35-7428-4D3C1436FB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6CB2D3F-BF78-36F7-4335-48AB4E47A3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B390AF-52B7-4B16-AFA5-4964AB85F8DB}" type="slidenum">
              <a:rPr lang="en-US" smtClean="0"/>
              <a:t>‹#›</a:t>
            </a:fld>
            <a:endParaRPr lang="en-US"/>
          </a:p>
        </p:txBody>
      </p:sp>
    </p:spTree>
    <p:extLst>
      <p:ext uri="{BB962C8B-B14F-4D97-AF65-F5344CB8AC3E}">
        <p14:creationId xmlns:p14="http://schemas.microsoft.com/office/powerpoint/2010/main" val="3049710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fivesixteenthsblog.com/2015/01/budgeting-app-reviews-4-apps-to-hel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DC1DF3-F2B5-52CF-ED1A-B788DFA8495C}"/>
              </a:ext>
            </a:extLst>
          </p:cNvPr>
          <p:cNvSpPr>
            <a:spLocks noGrp="1"/>
          </p:cNvSpPr>
          <p:nvPr>
            <p:ph type="title"/>
          </p:nvPr>
        </p:nvSpPr>
        <p:spPr>
          <a:xfrm>
            <a:off x="956826" y="1112969"/>
            <a:ext cx="3937298" cy="4166010"/>
          </a:xfrm>
        </p:spPr>
        <p:txBody>
          <a:bodyPr>
            <a:normAutofit/>
          </a:bodyPr>
          <a:lstStyle/>
          <a:p>
            <a:r>
              <a:rPr lang="en-US" err="1">
                <a:solidFill>
                  <a:srgbClr val="FFFFFF"/>
                </a:solidFill>
              </a:rPr>
              <a:t>SmartBudget</a:t>
            </a:r>
            <a:r>
              <a:rPr lang="en-US">
                <a:solidFill>
                  <a:srgbClr val="FFFFFF"/>
                </a:solidFill>
              </a:rPr>
              <a:t> Buddy</a:t>
            </a:r>
          </a:p>
        </p:txBody>
      </p:sp>
      <p:sp>
        <p:nvSpPr>
          <p:cNvPr id="13" name="Freeform: Shape 12">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2705BF84-525E-E272-88F8-C41B36C3B113}"/>
              </a:ext>
            </a:extLst>
          </p:cNvPr>
          <p:cNvSpPr>
            <a:spLocks noGrp="1"/>
          </p:cNvSpPr>
          <p:nvPr>
            <p:ph idx="1"/>
          </p:nvPr>
        </p:nvSpPr>
        <p:spPr>
          <a:xfrm>
            <a:off x="956826" y="4012707"/>
            <a:ext cx="3508642" cy="532287"/>
          </a:xfrm>
        </p:spPr>
        <p:txBody>
          <a:bodyPr anchor="t">
            <a:noAutofit/>
          </a:bodyPr>
          <a:lstStyle/>
          <a:p>
            <a:pPr marL="0" indent="0">
              <a:buNone/>
            </a:pPr>
            <a:r>
              <a:rPr lang="en-US" sz="2000"/>
              <a:t>“Your Money, Made Simple”</a:t>
            </a:r>
          </a:p>
          <a:p>
            <a:pPr marL="0" indent="0">
              <a:buNone/>
            </a:pPr>
            <a:endParaRPr lang="en-US" sz="2000"/>
          </a:p>
          <a:p>
            <a:pPr marL="0" indent="0">
              <a:buNone/>
            </a:pPr>
            <a:r>
              <a:rPr lang="en-US" sz="1200"/>
              <a:t>            Zemoria Thomas &amp; Glory </a:t>
            </a:r>
            <a:r>
              <a:rPr lang="en-US" sz="1200" err="1"/>
              <a:t>Degue</a:t>
            </a:r>
            <a:endParaRPr lang="en-US" sz="1200"/>
          </a:p>
        </p:txBody>
      </p:sp>
      <p:sp>
        <p:nvSpPr>
          <p:cNvPr id="19" name="Freeform: Shape 1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9565C1FA-9046-5B9C-A293-22B9847C73AA}"/>
              </a:ext>
            </a:extLst>
          </p:cNvPr>
          <p:cNvSpPr txBox="1"/>
          <p:nvPr/>
        </p:nvSpPr>
        <p:spPr>
          <a:xfrm>
            <a:off x="5110404" y="1011045"/>
            <a:ext cx="7162869" cy="1754326"/>
          </a:xfrm>
          <a:prstGeom prst="rect">
            <a:avLst/>
          </a:prstGeom>
          <a:noFill/>
        </p:spPr>
        <p:txBody>
          <a:bodyPr wrap="square" rtlCol="0">
            <a:spAutoFit/>
          </a:bodyPr>
          <a:lstStyle/>
          <a:p>
            <a:r>
              <a:rPr lang="en-US" err="1"/>
              <a:t>SmartBudget</a:t>
            </a:r>
            <a:r>
              <a:rPr lang="en-US"/>
              <a:t> Buddy is a simple and user-friendly budgeting app designed to help people understand their spending, stay on track with bills, and reach their savings goals. The app automatically organizes expenses, sends helpful alerts, and shows progress through clean visuals—</a:t>
            </a:r>
          </a:p>
          <a:p>
            <a:r>
              <a:rPr lang="en-US"/>
              <a:t>all to make budgeting easier and less stressful.</a:t>
            </a:r>
          </a:p>
        </p:txBody>
      </p:sp>
      <p:sp>
        <p:nvSpPr>
          <p:cNvPr id="7" name="TextBox 6">
            <a:extLst>
              <a:ext uri="{FF2B5EF4-FFF2-40B4-BE49-F238E27FC236}">
                <a16:creationId xmlns:a16="http://schemas.microsoft.com/office/drawing/2014/main" id="{B461B725-DDFE-7BF8-8CC5-09A4B42A9AEE}"/>
              </a:ext>
            </a:extLst>
          </p:cNvPr>
          <p:cNvSpPr txBox="1"/>
          <p:nvPr/>
        </p:nvSpPr>
        <p:spPr>
          <a:xfrm>
            <a:off x="5110404" y="3057475"/>
            <a:ext cx="5828524" cy="2031325"/>
          </a:xfrm>
          <a:prstGeom prst="rect">
            <a:avLst/>
          </a:prstGeom>
          <a:noFill/>
        </p:spPr>
        <p:txBody>
          <a:bodyPr wrap="square" rtlCol="0">
            <a:spAutoFit/>
          </a:bodyPr>
          <a:lstStyle/>
          <a:p>
            <a:pPr marL="285750" indent="-285750">
              <a:buFont typeface="Arial" panose="020B0604020202020204" pitchFamily="34" charset="0"/>
              <a:buChar char="•"/>
            </a:pPr>
            <a:r>
              <a:rPr lang="en-US" b="1"/>
              <a:t>Auto-Categorized Spending</a:t>
            </a:r>
            <a:r>
              <a:rPr lang="en-US"/>
              <a:t> – Instantly sorts purchases into categories.</a:t>
            </a:r>
          </a:p>
          <a:p>
            <a:pPr marL="285750" indent="-285750">
              <a:buFont typeface="Arial" panose="020B0604020202020204" pitchFamily="34" charset="0"/>
              <a:buChar char="•"/>
            </a:pPr>
            <a:r>
              <a:rPr lang="en-US" b="1"/>
              <a:t>Savings Goal Tracker</a:t>
            </a:r>
            <a:r>
              <a:rPr lang="en-US"/>
              <a:t> – Helps users plan and track personal goals.</a:t>
            </a:r>
          </a:p>
          <a:p>
            <a:pPr marL="285750" indent="-285750">
              <a:buFont typeface="Arial" panose="020B0604020202020204" pitchFamily="34" charset="0"/>
              <a:buChar char="•"/>
            </a:pPr>
            <a:r>
              <a:rPr lang="en-US" b="1"/>
              <a:t>Budget Alerts</a:t>
            </a:r>
            <a:r>
              <a:rPr lang="en-US"/>
              <a:t> – Notifies you before you overspend.</a:t>
            </a:r>
          </a:p>
          <a:p>
            <a:pPr marL="285750" indent="-285750">
              <a:buFont typeface="Arial" panose="020B0604020202020204" pitchFamily="34" charset="0"/>
              <a:buChar char="•"/>
            </a:pPr>
            <a:r>
              <a:rPr lang="en-US" b="1"/>
              <a:t>Monthly Insights Dashboard</a:t>
            </a:r>
            <a:r>
              <a:rPr lang="en-US"/>
              <a:t> – Clear charts to compare income vs. spending</a:t>
            </a:r>
          </a:p>
        </p:txBody>
      </p:sp>
      <p:pic>
        <p:nvPicPr>
          <p:cNvPr id="14" name="Picture 13" descr="A screenshot of a phone&#10;&#10;AI-generated content may be incorrect.">
            <a:extLst>
              <a:ext uri="{FF2B5EF4-FFF2-40B4-BE49-F238E27FC236}">
                <a16:creationId xmlns:a16="http://schemas.microsoft.com/office/drawing/2014/main" id="{F3E59933-D6EC-E323-5975-325F3AC4E61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420421" y="4796307"/>
            <a:ext cx="2771579" cy="2078684"/>
          </a:xfrm>
          <a:prstGeom prst="rect">
            <a:avLst/>
          </a:prstGeom>
        </p:spPr>
      </p:pic>
      <p:sp>
        <p:nvSpPr>
          <p:cNvPr id="16" name="TextBox 15">
            <a:extLst>
              <a:ext uri="{FF2B5EF4-FFF2-40B4-BE49-F238E27FC236}">
                <a16:creationId xmlns:a16="http://schemas.microsoft.com/office/drawing/2014/main" id="{568B1195-CBFD-5774-F54C-6E8516A8408B}"/>
              </a:ext>
            </a:extLst>
          </p:cNvPr>
          <p:cNvSpPr txBox="1"/>
          <p:nvPr/>
        </p:nvSpPr>
        <p:spPr>
          <a:xfrm>
            <a:off x="1524000" y="7014668"/>
            <a:ext cx="2941468" cy="230832"/>
          </a:xfrm>
          <a:prstGeom prst="rect">
            <a:avLst/>
          </a:prstGeom>
          <a:noFill/>
        </p:spPr>
        <p:txBody>
          <a:bodyPr wrap="square" rtlCol="0">
            <a:spAutoFit/>
          </a:bodyPr>
          <a:lstStyle/>
          <a:p>
            <a:r>
              <a:rPr lang="en-US" sz="900">
                <a:hlinkClick r:id="rId4" tooltip="https://www.fivesixteenthsblog.com/2015/01/budgeting-app-reviews-4-apps-to-help.html"/>
              </a:rPr>
              <a:t>This Photo</a:t>
            </a:r>
            <a:r>
              <a:rPr lang="en-US" sz="900"/>
              <a:t> by Unknown Author is licensed under </a:t>
            </a:r>
            <a:r>
              <a:rPr lang="en-US" sz="900">
                <a:hlinkClick r:id="rId5" tooltip="https://creativecommons.org/licenses/by/3.0/"/>
              </a:rPr>
              <a:t>CC BY</a:t>
            </a:r>
            <a:endParaRPr lang="en-US" sz="900"/>
          </a:p>
        </p:txBody>
      </p:sp>
    </p:spTree>
    <p:extLst>
      <p:ext uri="{BB962C8B-B14F-4D97-AF65-F5344CB8AC3E}">
        <p14:creationId xmlns:p14="http://schemas.microsoft.com/office/powerpoint/2010/main" val="2656481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123</Words>
  <Application>Microsoft Office PowerPoint</Application>
  <PresentationFormat>Widescreen</PresentationFormat>
  <Paragraphs>12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SmartBudget Buddy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Zemoria Thomas</dc:creator>
  <cp:lastModifiedBy>Zemoria Thomas</cp:lastModifiedBy>
  <cp:revision>1</cp:revision>
  <dcterms:created xsi:type="dcterms:W3CDTF">2025-12-01T02:48:31Z</dcterms:created>
  <dcterms:modified xsi:type="dcterms:W3CDTF">2025-12-01T04:27:32Z</dcterms:modified>
</cp:coreProperties>
</file>